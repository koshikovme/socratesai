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4" r:id="rId7"/>
    <p:sldId id="267" r:id="rId8"/>
    <p:sldId id="268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7CD22-4621-4F1C-5A72-85FFA88A7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EBEC19-AF44-1D1F-94F9-4C813BB96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7A846-A85B-0580-4091-766E74DA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35DB3C-EB37-4A0A-0A51-1BAEFD39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2CC075-420D-FFA2-7F5D-05C952B5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88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E0801-D77E-DA6D-464E-A8C2F501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4E23F8-B731-00EC-6519-A91F5054B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C06FC9-F167-580A-8E6C-AB9AACA7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322FBF-3292-A92F-050C-7F9DBD07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70FB49-5F41-6597-C37D-072E068D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18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2A6D5-5F8A-2029-DD55-D9F5630B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06DDE-DE75-275F-9430-47757D8F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2E078F-61F3-5998-8F4B-CCE36A67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A27B0A-949F-1A2F-EB2D-5AC922F9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5B84A4-840A-0EA3-C306-3724C58D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44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BA60B-8C55-C88B-CEAC-543FBC0A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5BA66F-C179-BD5E-E3FD-EA5E38F5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7AE86F-E8DB-21DD-4ABC-05D2B1FD2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AB8C30-480F-FF63-9EAD-48D5474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74E3EE-8B90-10F8-5CD8-05B1A838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86EBEA-8537-F4FA-369C-6EC716F7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68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8A564-FC31-1B6E-CBF2-3C21A64C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F6FCA8-CD00-6360-FD9D-1C49D7D05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E8B53-4C62-C894-DCE3-C56177F8D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2CA5EE-11D9-6190-DE34-A8F356CFE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07C4C3-63B3-26C0-BA10-A1AC32C46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632F17-870F-9007-C39E-B730638D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B7013B-DA15-3601-C786-564A8CA0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0C7C6B-311A-9523-F357-C974CC9B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0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7232C-4DD7-68D3-15D5-EF549DF1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601515-1384-53B1-B0D2-C4837396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7DA3AE-6C9B-E4AC-D57A-15DE58F5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7346C9-8F8D-F336-D35E-D0986318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10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12C52E-419B-A0A5-0128-78AC5F5D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AEA0C0-A69B-1B47-E0AD-8D12D725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C71AE8-9855-E23F-B4CF-9A8912F0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11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47211-711D-B7B8-F9C2-6C3F309F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62E71-86B0-D31B-D13A-CAE68BC49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235616-9D8D-BE2A-9B22-4FD7B3654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EC1899-C077-F9A7-B5BC-A7EBE625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B7A8F3-4DB4-BD38-7A73-95E2D02C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79E2F-CBD9-753A-1A41-034D34C3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47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89641-20C4-2640-BC77-1F5092C9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78814D-43B7-7CB6-E0E1-3417A7060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093A22-9B73-5D7D-2C20-96388AA3F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D4A8F9-2A8F-1BC9-35DD-B29BB355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2AE066-DBB3-D50A-C9A9-FE98F0A0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3B867B-D4E0-9B48-B4F2-1854B0DE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06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C58F0-7837-F28A-D632-D4B9539D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191636-2169-B7E6-EBB8-9FC4FD024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C92268-4EF2-4207-83BC-D7D96903B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873107-34C9-3F5C-3DC8-5F09C39C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947128-194B-82A2-214B-B07DC2C1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6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153B3F-C2E2-63C3-65B2-00FB8132E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8D6878-0141-2448-E8A1-1CBD96C5E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C8E6D2-F80C-C583-CC7F-502180D0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43DF6-5DBC-720E-6C54-8DF23525B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B4E49C-BDC1-72FA-9FD7-39DB342F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62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C3713-1647-A059-1480-891F3688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582797-6B64-8568-B537-75C1EAEC1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B4D8A3-E7AB-99EC-6D52-B4A6DD4B7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C6BF3-8DD8-45F2-B17B-4C14A4453BC2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FA3B06-5703-F8CA-A11C-D3BFDE583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D191-F499-F40A-278B-89DB023E7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8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9144000" cy="1232648"/>
          </a:xfrm>
        </p:spPr>
        <p:txBody>
          <a:bodyPr lIns="73152" tIns="36576" rIns="73152" bIns="36576" anchor="t"/>
          <a:lstStyle/>
          <a:p>
            <a:pPr algn="ctr"/>
            <a:r>
              <a:rPr sz="2800" b="1" i="0" dirty="0">
                <a:solidFill>
                  <a:srgbClr val="0C2340"/>
                </a:solidFill>
              </a:rPr>
              <a:t>Research and Implementation of Virtual Mentor Models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lIns="73152" tIns="36576" rIns="73152" bIns="36576" anchor="t"/>
          <a:lstStyle/>
          <a:p>
            <a:pPr algn="ctr"/>
            <a:r>
              <a:rPr sz="1500" b="1" i="0" dirty="0">
                <a:solidFill>
                  <a:srgbClr val="212B36"/>
                </a:solidFill>
                <a:latin typeface="+mj-lt"/>
              </a:rPr>
              <a:t>Real-time personalized feedback for first-year students</a:t>
            </a:r>
            <a:r>
              <a:rPr sz="1500" b="0" i="0" dirty="0">
                <a:solidFill>
                  <a:srgbClr val="212B36"/>
                </a:solidFill>
                <a:latin typeface="+mj-lt"/>
              </a:rPr>
              <a:t>
Master's student research work #2, 2025-2026 academic year
Alimzhan Koshikov</a:t>
            </a:r>
            <a:r>
              <a:rPr lang="en-US" sz="1500" dirty="0">
                <a:solidFill>
                  <a:srgbClr val="212B36"/>
                </a:solidFill>
                <a:latin typeface="+mj-lt"/>
              </a:rPr>
              <a:t>,</a:t>
            </a:r>
            <a:r>
              <a:rPr sz="1500" b="0" i="0" dirty="0">
                <a:solidFill>
                  <a:srgbClr val="212B36"/>
                </a:solidFill>
                <a:latin typeface="+mj-lt"/>
              </a:rPr>
              <a:t> 7M06105 Computer Science and Engineering
Supervisor: Tutkyshbayeva Shyryn, PhD</a:t>
            </a:r>
            <a:r>
              <a:rPr lang="en-US" sz="1500" b="0" i="0" dirty="0">
                <a:solidFill>
                  <a:srgbClr val="212B36"/>
                </a:solidFill>
                <a:latin typeface="+mj-lt"/>
              </a:rPr>
              <a:t>,</a:t>
            </a:r>
            <a:r>
              <a:rPr sz="1500" b="0" i="0" dirty="0">
                <a:solidFill>
                  <a:srgbClr val="212B36"/>
                </a:solidFill>
                <a:latin typeface="+mj-lt"/>
              </a:rPr>
              <a:t> Astana IT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67925" y="5657366"/>
            <a:ext cx="8456150" cy="5047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400" b="1" i="0" dirty="0">
                <a:latin typeface="+mj-lt"/>
              </a:rPr>
              <a:t>Dissertation topic: </a:t>
            </a:r>
            <a:r>
              <a:rPr sz="1400" b="0" i="0" dirty="0" err="1">
                <a:latin typeface="+mj-lt"/>
              </a:rPr>
              <a:t>Исследование</a:t>
            </a:r>
            <a:r>
              <a:rPr sz="1400" b="0" i="0" dirty="0">
                <a:latin typeface="+mj-lt"/>
              </a:rPr>
              <a:t> и </a:t>
            </a:r>
            <a:r>
              <a:rPr sz="1400" b="0" i="0" dirty="0" err="1">
                <a:latin typeface="+mj-lt"/>
              </a:rPr>
              <a:t>реализация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моделей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виртуального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наставника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по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программированию</a:t>
            </a:r>
            <a:r>
              <a:rPr sz="1400" b="0" i="0" dirty="0">
                <a:latin typeface="+mj-lt"/>
              </a:rPr>
              <a:t> с </a:t>
            </a:r>
            <a:r>
              <a:rPr sz="1400" b="0" i="0" dirty="0" err="1">
                <a:latin typeface="+mj-lt"/>
              </a:rPr>
              <a:t>персонализированной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обратной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связью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студентам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первого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курса</a:t>
            </a:r>
            <a:r>
              <a:rPr sz="1400" b="0" i="0" dirty="0">
                <a:latin typeface="+mj-lt"/>
              </a:rPr>
              <a:t> в </a:t>
            </a:r>
            <a:r>
              <a:rPr sz="1400" b="0" i="0" dirty="0" err="1">
                <a:latin typeface="+mj-lt"/>
              </a:rPr>
              <a:t>реальном</a:t>
            </a:r>
            <a:r>
              <a:rPr sz="1400" b="0" i="0" dirty="0">
                <a:latin typeface="+mj-lt"/>
              </a:rPr>
              <a:t> </a:t>
            </a:r>
            <a:r>
              <a:rPr sz="1400" b="0" i="0" dirty="0" err="1">
                <a:latin typeface="+mj-lt"/>
              </a:rPr>
              <a:t>времени</a:t>
            </a:r>
            <a:endParaRPr sz="1400" b="0" i="0" dirty="0"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76691" y="6419088"/>
            <a:ext cx="199029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13874"/>
            <a:ext cx="10469880" cy="1325563"/>
          </a:xfrm>
        </p:spPr>
        <p:txBody>
          <a:bodyPr/>
          <a:lstStyle/>
          <a:p>
            <a:pPr algn="l"/>
            <a:r>
              <a:rPr sz="2400" b="1" i="0" dirty="0">
                <a:solidFill>
                  <a:srgbClr val="0C2340"/>
                </a:solidFill>
              </a:rPr>
              <a:t>1. Relevance of the Research / </a:t>
            </a:r>
            <a:r>
              <a:rPr sz="2400" b="1" i="0" dirty="0" err="1">
                <a:solidFill>
                  <a:srgbClr val="0C2340"/>
                </a:solidFill>
              </a:rPr>
              <a:t>Актуальность</a:t>
            </a:r>
            <a:r>
              <a:rPr sz="2400" b="1" i="0" dirty="0">
                <a:solidFill>
                  <a:srgbClr val="0C2340"/>
                </a:solidFill>
              </a:rPr>
              <a:t> </a:t>
            </a:r>
            <a:r>
              <a:rPr sz="2400" b="1" i="0" dirty="0" err="1">
                <a:solidFill>
                  <a:srgbClr val="0C2340"/>
                </a:solidFill>
              </a:rPr>
              <a:t>исследования</a:t>
            </a:r>
            <a:endParaRPr sz="2400" b="1" i="0" dirty="0">
              <a:solidFill>
                <a:srgbClr val="0C234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337560" cy="1078992"/>
          </a:xfrm>
          <a:prstGeom prst="roundRect">
            <a:avLst/>
          </a:prstGeom>
          <a:solidFill>
            <a:srgbClr val="E8F8FA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1444752"/>
            <a:ext cx="3081528" cy="6730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 i="0" dirty="0">
                <a:solidFill>
                  <a:srgbClr val="0C2340"/>
                </a:solidFill>
                <a:latin typeface="+mj-lt"/>
              </a:rPr>
              <a:t>Delayed help in CS1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B36"/>
                </a:solidFill>
                <a:latin typeface="+mj-lt"/>
              </a:rPr>
              <a:t>Beginners often need feedback at the exact moment they are stuck, not after grading.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3337560" cy="1078992"/>
          </a:xfrm>
          <a:prstGeom prst="roundRect">
            <a:avLst/>
          </a:prstGeom>
          <a:solidFill>
            <a:srgbClr val="FEF6E8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761488"/>
            <a:ext cx="3081528" cy="6730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 i="0" dirty="0">
                <a:solidFill>
                  <a:srgbClr val="0C2340"/>
                </a:solidFill>
                <a:latin typeface="+mj-lt"/>
              </a:rPr>
              <a:t>Static tools are limited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B36"/>
                </a:solidFill>
                <a:latin typeface="+mj-lt"/>
              </a:rPr>
              <a:t>Compilers and tests report failure, but rarely explain the student's misconception.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986784"/>
            <a:ext cx="3337560" cy="1078992"/>
          </a:xfrm>
          <a:prstGeom prst="roundRect">
            <a:avLst/>
          </a:prstGeom>
          <a:solidFill>
            <a:srgbClr val="F2F0FC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4078224"/>
            <a:ext cx="3081528" cy="6730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b="1" i="0" dirty="0">
                <a:solidFill>
                  <a:srgbClr val="0C2340"/>
                </a:solidFill>
                <a:latin typeface="+mj-lt"/>
              </a:rPr>
              <a:t>Unrestricted LLMs are risky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50" b="0" i="0" dirty="0">
                <a:solidFill>
                  <a:srgbClr val="212B36"/>
                </a:solidFill>
                <a:latin typeface="+mj-lt"/>
              </a:rPr>
              <a:t>Open-ended assistants can over-explain or reveal near-solutions without pedagogical control.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335024"/>
            <a:ext cx="1412246" cy="366254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l"/>
            <a:r>
              <a:rPr sz="1900" b="1" i="0" dirty="0">
                <a:solidFill>
                  <a:srgbClr val="0C2340"/>
                </a:solidFill>
                <a:latin typeface="+mj-lt"/>
              </a:rPr>
              <a:t>Research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1847088"/>
            <a:ext cx="5859579" cy="139288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342900" indent="-342900" algn="l">
              <a:lnSpc>
                <a:spcPct val="105000"/>
              </a:lnSpc>
              <a:spcAft>
                <a:spcPts val="600"/>
              </a:spcAft>
              <a:buFont typeface="+mj-lt"/>
              <a:buAutoNum type="arabicParenR"/>
            </a:pPr>
            <a:r>
              <a:rPr sz="1500" b="0" i="0" dirty="0">
                <a:solidFill>
                  <a:srgbClr val="212B36"/>
                </a:solidFill>
                <a:latin typeface="+mj-lt"/>
              </a:rPr>
              <a:t>Need feedback that is immediate, personalized, and bounded by learning goals.</a:t>
            </a:r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Font typeface="+mj-lt"/>
              <a:buAutoNum type="arabicParenR"/>
            </a:pPr>
            <a:r>
              <a:rPr sz="1500" b="0" i="0" dirty="0">
                <a:solidFill>
                  <a:srgbClr val="212B36"/>
                </a:solidFill>
                <a:latin typeface="+mj-lt"/>
              </a:rPr>
              <a:t>The mentor must decide how to intervene before generating the wording.</a:t>
            </a:r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Font typeface="+mj-lt"/>
              <a:buAutoNum type="arabicParenR"/>
            </a:pPr>
            <a:r>
              <a:rPr sz="1500" b="0" i="0" dirty="0">
                <a:solidFill>
                  <a:srgbClr val="212B36"/>
                </a:solidFill>
                <a:latin typeface="+mj-lt"/>
              </a:rPr>
              <a:t>The key technical layer is a feedback-state / policy decision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886200"/>
            <a:ext cx="1645920" cy="6858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200" b="1" i="0">
                <a:solidFill>
                  <a:srgbClr val="0C2340"/>
                </a:solidFill>
                <a:latin typeface="+mj-lt"/>
              </a:rPr>
              <a:t>Code state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537960" y="4142232"/>
            <a:ext cx="320040" cy="164592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95160" y="3886200"/>
            <a:ext cx="2011680" cy="685800"/>
          </a:xfrm>
          <a:prstGeom prst="roundRect">
            <a:avLst/>
          </a:prstGeom>
          <a:solidFill>
            <a:srgbClr val="E8F8FA"/>
          </a:solidFill>
          <a:ln w="12700"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200" b="1" i="0" dirty="0">
                <a:solidFill>
                  <a:srgbClr val="0C2340"/>
                </a:solidFill>
                <a:latin typeface="+mj-lt"/>
              </a:rPr>
              <a:t>Code </a:t>
            </a:r>
            <a:r>
              <a:rPr lang="en-US" sz="1200" b="1" dirty="0">
                <a:solidFill>
                  <a:srgbClr val="0C2340"/>
                </a:solidFill>
                <a:latin typeface="+mj-lt"/>
              </a:rPr>
              <a:t>f</a:t>
            </a:r>
            <a:r>
              <a:rPr sz="1200" b="1" i="0" dirty="0">
                <a:solidFill>
                  <a:srgbClr val="0C2340"/>
                </a:solidFill>
                <a:latin typeface="+mj-lt"/>
              </a:rPr>
              <a:t>eedback state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162288" y="4142232"/>
            <a:ext cx="320040" cy="164592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19488" y="3886200"/>
            <a:ext cx="1508760" cy="685800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US" sz="1200" b="1" i="0" dirty="0">
                <a:solidFill>
                  <a:srgbClr val="0C2340"/>
                </a:solidFill>
                <a:latin typeface="+mj-lt"/>
              </a:rPr>
              <a:t>Personalized and bounded</a:t>
            </a:r>
            <a:r>
              <a:rPr sz="1200" b="1" i="0" dirty="0">
                <a:solidFill>
                  <a:srgbClr val="0C2340"/>
                </a:solidFill>
                <a:latin typeface="+mj-lt"/>
              </a:rPr>
              <a:t> hint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983480"/>
            <a:ext cx="6191608" cy="53553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500" b="1" i="0" dirty="0">
                <a:solidFill>
                  <a:srgbClr val="0C2340"/>
                </a:solidFill>
                <a:latin typeface="+mj-lt"/>
              </a:rPr>
              <a:t>Core idea: feedback generation should be controlled by an explicit pedagogical policy, not by an unrestricted language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6691" y="6419088"/>
            <a:ext cx="199029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120" y="-8827"/>
            <a:ext cx="10515600" cy="1325563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0C2340"/>
                </a:solidFill>
              </a:rPr>
              <a:t>2</a:t>
            </a:r>
            <a:r>
              <a:rPr sz="2400" b="1" i="0" dirty="0">
                <a:solidFill>
                  <a:srgbClr val="0C2340"/>
                </a:solidFill>
              </a:rPr>
              <a:t>. Methods and Initial Data / </a:t>
            </a:r>
            <a:r>
              <a:rPr sz="2400" b="1" i="0" dirty="0" err="1">
                <a:solidFill>
                  <a:srgbClr val="0C2340"/>
                </a:solidFill>
              </a:rPr>
              <a:t>Методы</a:t>
            </a:r>
            <a:r>
              <a:rPr sz="2400" b="1" i="0" dirty="0">
                <a:solidFill>
                  <a:srgbClr val="0C2340"/>
                </a:solidFill>
              </a:rPr>
              <a:t> и </a:t>
            </a:r>
            <a:r>
              <a:rPr sz="2400" b="1" i="0" dirty="0" err="1">
                <a:solidFill>
                  <a:srgbClr val="0C2340"/>
                </a:solidFill>
              </a:rPr>
              <a:t>исходные</a:t>
            </a:r>
            <a:r>
              <a:rPr sz="2400" b="1" i="0" dirty="0">
                <a:solidFill>
                  <a:srgbClr val="0C2340"/>
                </a:solidFill>
              </a:rPr>
              <a:t> </a:t>
            </a:r>
            <a:r>
              <a:rPr sz="2400" b="1" i="0" dirty="0" err="1">
                <a:solidFill>
                  <a:srgbClr val="0C2340"/>
                </a:solidFill>
              </a:rPr>
              <a:t>данные</a:t>
            </a:r>
            <a:endParaRPr sz="2400" b="1" i="0" dirty="0">
              <a:solidFill>
                <a:srgbClr val="0C234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43584"/>
            <a:ext cx="4800600" cy="987552"/>
          </a:xfrm>
          <a:prstGeom prst="roundRect">
            <a:avLst/>
          </a:prstGeom>
          <a:solidFill>
            <a:srgbClr val="E8F8FA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7824" y="1335024"/>
            <a:ext cx="3904487" cy="6545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1" i="0" dirty="0">
                <a:solidFill>
                  <a:srgbClr val="0C2340"/>
                </a:solidFill>
                <a:latin typeface="+mj-lt"/>
              </a:rPr>
              <a:t>Literature review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30" b="0" i="0" dirty="0">
                <a:solidFill>
                  <a:srgbClr val="212B36"/>
                </a:solidFill>
                <a:latin typeface="+mj-lt"/>
              </a:rPr>
              <a:t>CS1 learning difficulties, automated feedback, AI tutors, LLM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43584"/>
            <a:ext cx="4800600" cy="987552"/>
          </a:xfrm>
          <a:prstGeom prst="roundRect">
            <a:avLst/>
          </a:prstGeom>
          <a:solidFill>
            <a:srgbClr val="ECF8F0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335024"/>
            <a:ext cx="4108934" cy="6545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1" i="0" dirty="0">
                <a:solidFill>
                  <a:srgbClr val="0C2340"/>
                </a:solidFill>
                <a:latin typeface="+mj-lt"/>
              </a:rPr>
              <a:t>Supervised ML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30" b="0" i="0" dirty="0">
                <a:solidFill>
                  <a:srgbClr val="212B36"/>
                </a:solidFill>
                <a:latin typeface="+mj-lt"/>
              </a:rPr>
              <a:t>Feedback-state prediction with problem-level holdout and ablation study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8336"/>
            <a:ext cx="4800600" cy="987552"/>
          </a:xfrm>
          <a:prstGeom prst="roundRect">
            <a:avLst/>
          </a:prstGeom>
          <a:solidFill>
            <a:srgbClr val="F2F0FC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7825" y="2779776"/>
            <a:ext cx="4194508" cy="6545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1" i="0" dirty="0">
                <a:solidFill>
                  <a:srgbClr val="0C2340"/>
                </a:solidFill>
                <a:latin typeface="+mj-lt"/>
              </a:rPr>
              <a:t>Software prototyping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30" b="0" i="0" dirty="0">
                <a:solidFill>
                  <a:srgbClr val="212B36"/>
                </a:solidFill>
                <a:latin typeface="+mj-lt"/>
              </a:rPr>
              <a:t>Spring Boot backend, Vue frontend, PostgreSQL, </a:t>
            </a:r>
            <a:r>
              <a:rPr sz="1130" b="0" i="0" dirty="0" err="1">
                <a:solidFill>
                  <a:srgbClr val="212B36"/>
                </a:solidFill>
                <a:latin typeface="+mj-lt"/>
              </a:rPr>
              <a:t>FastAPI</a:t>
            </a:r>
            <a:r>
              <a:rPr sz="1130" b="0" i="0" dirty="0">
                <a:solidFill>
                  <a:srgbClr val="212B36"/>
                </a:solidFill>
                <a:latin typeface="+mj-lt"/>
              </a:rPr>
              <a:t> ML policy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688336"/>
            <a:ext cx="4800600" cy="987552"/>
          </a:xfrm>
          <a:prstGeom prst="roundRect">
            <a:avLst/>
          </a:prstGeom>
          <a:solidFill>
            <a:srgbClr val="FEF6E8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35624" y="2779776"/>
            <a:ext cx="4690606" cy="65453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20" b="1" i="0" dirty="0">
                <a:solidFill>
                  <a:srgbClr val="0C2340"/>
                </a:solidFill>
                <a:latin typeface="+mj-lt"/>
              </a:rPr>
              <a:t>Evaluation design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130" b="0" i="0" dirty="0">
                <a:solidFill>
                  <a:srgbClr val="212B36"/>
                </a:solidFill>
                <a:latin typeface="+mj-lt"/>
              </a:rPr>
              <a:t>Offline </a:t>
            </a:r>
            <a:r>
              <a:rPr sz="1130" b="0" i="0" dirty="0" err="1">
                <a:solidFill>
                  <a:srgbClr val="212B36"/>
                </a:solidFill>
                <a:latin typeface="+mj-lt"/>
              </a:rPr>
              <a:t>Codeforces</a:t>
            </a:r>
            <a:r>
              <a:rPr sz="1130" b="0" i="0" dirty="0">
                <a:solidFill>
                  <a:srgbClr val="212B36"/>
                </a:solidFill>
                <a:latin typeface="+mj-lt"/>
              </a:rPr>
              <a:t> evaluation plus </a:t>
            </a:r>
            <a:r>
              <a:rPr sz="1130" b="0" i="0" dirty="0" err="1">
                <a:solidFill>
                  <a:srgbClr val="212B36"/>
                </a:solidFill>
                <a:latin typeface="+mj-lt"/>
              </a:rPr>
              <a:t>SocratesAI</a:t>
            </a:r>
            <a:r>
              <a:rPr sz="1130" b="0" i="0" dirty="0">
                <a:solidFill>
                  <a:srgbClr val="212B36"/>
                </a:solidFill>
                <a:latin typeface="+mj-lt"/>
              </a:rPr>
              <a:t> interaction logs for future CS1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1471300" cy="335476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l"/>
            <a:r>
              <a:rPr sz="1700" b="1" i="0">
                <a:solidFill>
                  <a:srgbClr val="0C2340"/>
                </a:solidFill>
                <a:latin typeface="+mj-lt"/>
              </a:rPr>
              <a:t>Main data used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718304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99956" y="4791456"/>
            <a:ext cx="1083951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0099A6"/>
                </a:solidFill>
                <a:latin typeface="+mj-lt"/>
              </a:rPr>
              <a:t>178,414</a:t>
            </a:r>
          </a:p>
          <a:p>
            <a:pPr algn="ctr">
              <a:spcBef>
                <a:spcPts val="400"/>
              </a:spcBef>
            </a:pPr>
            <a:r>
              <a:rPr sz="880" b="0" i="0">
                <a:solidFill>
                  <a:srgbClr val="5E6C84"/>
                </a:solidFill>
                <a:latin typeface="+mj-lt"/>
              </a:rPr>
              <a:t>Python submissions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07792" y="4718304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50603" y="4791456"/>
            <a:ext cx="1588897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229954"/>
                </a:solidFill>
                <a:latin typeface="+mj-lt"/>
              </a:rPr>
              <a:t>872</a:t>
            </a:r>
          </a:p>
          <a:p>
            <a:pPr algn="ctr">
              <a:spcBef>
                <a:spcPts val="400"/>
              </a:spcBef>
            </a:pPr>
            <a:r>
              <a:rPr sz="880" b="0" i="0">
                <a:solidFill>
                  <a:srgbClr val="5E6C84"/>
                </a:solidFill>
                <a:latin typeface="+mj-lt"/>
              </a:rPr>
              <a:t>beginner Codeforces 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0912" y="4718304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500774" y="4791456"/>
            <a:ext cx="894796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6859B4"/>
                </a:solidFill>
                <a:latin typeface="+mj-lt"/>
              </a:rPr>
              <a:t>5</a:t>
            </a:r>
          </a:p>
          <a:p>
            <a:pPr algn="ctr">
              <a:spcBef>
                <a:spcPts val="400"/>
              </a:spcBef>
            </a:pPr>
            <a:r>
              <a:rPr sz="880" b="0" i="0">
                <a:solidFill>
                  <a:srgbClr val="5E6C84"/>
                </a:solidFill>
                <a:latin typeface="+mj-lt"/>
              </a:rPr>
              <a:t>feedback states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14032" y="4718304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56418" y="4791456"/>
            <a:ext cx="1189748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 dirty="0">
                <a:solidFill>
                  <a:srgbClr val="EC9D2D"/>
                </a:solidFill>
                <a:latin typeface="+mj-lt"/>
              </a:rPr>
              <a:t>12</a:t>
            </a:r>
          </a:p>
          <a:p>
            <a:pPr algn="ctr">
              <a:spcBef>
                <a:spcPts val="400"/>
              </a:spcBef>
            </a:pPr>
            <a:r>
              <a:rPr sz="880" b="0" i="0" dirty="0">
                <a:solidFill>
                  <a:srgbClr val="5E6C84"/>
                </a:solidFill>
                <a:latin typeface="+mj-lt"/>
              </a:rPr>
              <a:t>MVP benchmark tasks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17152" y="4718304"/>
            <a:ext cx="1874519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82593" y="4791456"/>
            <a:ext cx="1343638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 dirty="0">
                <a:solidFill>
                  <a:srgbClr val="C0392B"/>
                </a:solidFill>
                <a:latin typeface="+mj-lt"/>
              </a:rPr>
              <a:t>2026-2027</a:t>
            </a:r>
          </a:p>
          <a:p>
            <a:pPr algn="ctr">
              <a:spcBef>
                <a:spcPts val="400"/>
              </a:spcBef>
            </a:pPr>
            <a:r>
              <a:rPr sz="880" b="0" i="0" dirty="0">
                <a:solidFill>
                  <a:srgbClr val="5E6C84"/>
                </a:solidFill>
                <a:latin typeface="+mj-lt"/>
              </a:rPr>
              <a:t>classroom validation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6691" y="6419088"/>
            <a:ext cx="199029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0"/>
            <a:ext cx="10515600" cy="1325563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0C2340"/>
                </a:solidFill>
              </a:rPr>
              <a:t>3</a:t>
            </a:r>
            <a:r>
              <a:rPr sz="2400" b="1" i="0" dirty="0">
                <a:solidFill>
                  <a:srgbClr val="0C2340"/>
                </a:solidFill>
              </a:rPr>
              <a:t>. ML Decision Layer / </a:t>
            </a:r>
            <a:r>
              <a:rPr sz="2400" b="1" i="0" dirty="0" err="1">
                <a:solidFill>
                  <a:srgbClr val="0C2340"/>
                </a:solidFill>
              </a:rPr>
              <a:t>Слой</a:t>
            </a:r>
            <a:r>
              <a:rPr sz="2400" b="1" i="0" dirty="0">
                <a:solidFill>
                  <a:srgbClr val="0C2340"/>
                </a:solidFill>
              </a:rPr>
              <a:t> </a:t>
            </a:r>
            <a:r>
              <a:rPr sz="2400" b="1" i="0" dirty="0" err="1">
                <a:solidFill>
                  <a:srgbClr val="0C2340"/>
                </a:solidFill>
              </a:rPr>
              <a:t>принятия</a:t>
            </a:r>
            <a:r>
              <a:rPr sz="2400" b="1" i="0" dirty="0">
                <a:solidFill>
                  <a:srgbClr val="0C2340"/>
                </a:solidFill>
              </a:rPr>
              <a:t> </a:t>
            </a:r>
            <a:r>
              <a:rPr sz="2400" b="1" i="0" dirty="0" err="1">
                <a:solidFill>
                  <a:srgbClr val="0C2340"/>
                </a:solidFill>
              </a:rPr>
              <a:t>решения</a:t>
            </a:r>
            <a:endParaRPr sz="2400" b="1" i="0" dirty="0">
              <a:solidFill>
                <a:srgbClr val="0C2340"/>
              </a:solidFill>
            </a:endParaRPr>
          </a:p>
        </p:txBody>
      </p:sp>
      <p:pic>
        <p:nvPicPr>
          <p:cNvPr id="6" name="Picture 5" descr="report_fi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903" y="1339437"/>
            <a:ext cx="3519681" cy="4179125"/>
          </a:xfrm>
          <a:prstGeom prst="rect">
            <a:avLst/>
          </a:prstGeom>
          <a:ln w="5080">
            <a:solidFill>
              <a:srgbClr val="D6DD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257800" y="1298448"/>
            <a:ext cx="3270382" cy="350865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l"/>
            <a:r>
              <a:rPr sz="1800" b="1" i="0" dirty="0">
                <a:solidFill>
                  <a:srgbClr val="0C2340"/>
                </a:solidFill>
                <a:latin typeface="+mj-lt"/>
              </a:rPr>
              <a:t>From submission to mentor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5232" y="1810512"/>
            <a:ext cx="5342511" cy="2057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342900" indent="-342900" algn="l">
              <a:lnSpc>
                <a:spcPct val="105000"/>
              </a:lnSpc>
              <a:spcAft>
                <a:spcPts val="600"/>
              </a:spcAft>
              <a:buFont typeface="+mj-lt"/>
              <a:buAutoNum type="arabicParenR"/>
            </a:pPr>
            <a:r>
              <a:rPr sz="1360" b="0" i="0" dirty="0">
                <a:solidFill>
                  <a:srgbClr val="212B36"/>
                </a:solidFill>
                <a:latin typeface="+mj-lt"/>
              </a:rPr>
              <a:t>Beginner submissions are grouped into feedback categories from judge/run outcomes.</a:t>
            </a:r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Font typeface="+mj-lt"/>
              <a:buAutoNum type="arabicParenR"/>
            </a:pPr>
            <a:r>
              <a:rPr sz="1360" b="0" i="0" dirty="0">
                <a:solidFill>
                  <a:srgbClr val="212B36"/>
                </a:solidFill>
                <a:latin typeface="+mj-lt"/>
              </a:rPr>
              <a:t>Train/test split is performed by problem to reduce leakage across similar attempts.</a:t>
            </a:r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Font typeface="+mj-lt"/>
              <a:buAutoNum type="arabicParenR"/>
            </a:pPr>
            <a:r>
              <a:rPr sz="1360" b="0" i="0" dirty="0">
                <a:solidFill>
                  <a:srgbClr val="212B36"/>
                </a:solidFill>
                <a:latin typeface="+mj-lt"/>
              </a:rPr>
              <a:t>The predictor estimates the feedback state before the mentor writes the hint.</a:t>
            </a:r>
          </a:p>
          <a:p>
            <a:pPr marL="342900" indent="-342900" algn="l">
              <a:lnSpc>
                <a:spcPct val="105000"/>
              </a:lnSpc>
              <a:spcAft>
                <a:spcPts val="600"/>
              </a:spcAft>
              <a:buFont typeface="+mj-lt"/>
              <a:buAutoNum type="arabicParenR"/>
            </a:pPr>
            <a:r>
              <a:rPr sz="1360" b="0" i="0" dirty="0" err="1">
                <a:solidFill>
                  <a:srgbClr val="212B36"/>
                </a:solidFill>
                <a:latin typeface="+mj-lt"/>
              </a:rPr>
              <a:t>SocratesAI</a:t>
            </a:r>
            <a:r>
              <a:rPr sz="1360" b="0" i="0" dirty="0">
                <a:solidFill>
                  <a:srgbClr val="212B36"/>
                </a:solidFill>
                <a:latin typeface="+mj-lt"/>
              </a:rPr>
              <a:t> uses the state and confidence to guide bounded feedback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76672" y="4407408"/>
            <a:ext cx="1371600" cy="62179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 i="0">
                <a:solidFill>
                  <a:srgbClr val="0C2340"/>
                </a:solidFill>
                <a:latin typeface="+mj-lt"/>
              </a:rPr>
              <a:t>Analyzer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03720" y="4645152"/>
            <a:ext cx="292608" cy="137160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33488" y="4407408"/>
            <a:ext cx="1508760" cy="621792"/>
          </a:xfrm>
          <a:prstGeom prst="roundRect">
            <a:avLst/>
          </a:prstGeom>
          <a:solidFill>
            <a:srgbClr val="E8F8FA"/>
          </a:solidFill>
          <a:ln w="12700"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 i="0">
                <a:solidFill>
                  <a:srgbClr val="0C2340"/>
                </a:solidFill>
                <a:latin typeface="+mj-lt"/>
              </a:rPr>
              <a:t>Policy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97696" y="4645152"/>
            <a:ext cx="292608" cy="137160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400032" y="4407408"/>
            <a:ext cx="1554480" cy="621792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100" b="1" i="0">
                <a:solidFill>
                  <a:srgbClr val="0C2340"/>
                </a:solidFill>
                <a:latin typeface="+mj-lt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6691" y="6419088"/>
            <a:ext cx="199029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0"/>
            <a:ext cx="10515600" cy="1325563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0C2340"/>
                </a:solidFill>
              </a:rPr>
              <a:t>4</a:t>
            </a:r>
            <a:r>
              <a:rPr sz="2400" b="1" i="0" dirty="0">
                <a:solidFill>
                  <a:srgbClr val="0C2340"/>
                </a:solidFill>
              </a:rPr>
              <a:t>. </a:t>
            </a:r>
            <a:r>
              <a:rPr sz="2400" b="1" i="0" dirty="0" err="1">
                <a:solidFill>
                  <a:srgbClr val="0C2340"/>
                </a:solidFill>
              </a:rPr>
              <a:t>SocratesAI</a:t>
            </a:r>
            <a:r>
              <a:rPr sz="2400" b="1" i="0" dirty="0">
                <a:solidFill>
                  <a:srgbClr val="0C2340"/>
                </a:solidFill>
              </a:rPr>
              <a:t> MVP Architecture / </a:t>
            </a:r>
            <a:r>
              <a:rPr sz="2400" b="1" i="0" dirty="0" err="1">
                <a:solidFill>
                  <a:srgbClr val="0C2340"/>
                </a:solidFill>
              </a:rPr>
              <a:t>Архитектура</a:t>
            </a:r>
            <a:r>
              <a:rPr sz="2400" b="1" i="0" dirty="0">
                <a:solidFill>
                  <a:srgbClr val="0C2340"/>
                </a:solidFill>
              </a:rPr>
              <a:t> </a:t>
            </a:r>
            <a:r>
              <a:rPr sz="2400" b="1" i="0" dirty="0" err="1">
                <a:solidFill>
                  <a:srgbClr val="0C2340"/>
                </a:solidFill>
              </a:rPr>
              <a:t>прототипа</a:t>
            </a:r>
            <a:endParaRPr sz="2400" b="1" i="0" dirty="0">
              <a:solidFill>
                <a:srgbClr val="0C234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2944368"/>
            <a:ext cx="1417320" cy="658368"/>
          </a:xfrm>
          <a:prstGeom prst="roundRect">
            <a:avLst/>
          </a:prstGeom>
          <a:solidFill>
            <a:srgbClr val="E8F8FA"/>
          </a:solidFill>
          <a:ln w="12700"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60" b="1" i="0">
                <a:solidFill>
                  <a:srgbClr val="0C2340"/>
                </a:solidFill>
                <a:latin typeface="+mj-lt"/>
              </a:rPr>
              <a:t>Student UI
Vue 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30552" y="3198342"/>
            <a:ext cx="612648" cy="227540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2944368"/>
            <a:ext cx="1783080" cy="65836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40" b="1" i="0">
                <a:solidFill>
                  <a:srgbClr val="0C2340"/>
                </a:solidFill>
                <a:latin typeface="+mj-lt"/>
              </a:rPr>
              <a:t>REST / WebSocket
Spring Boot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26280" y="3106839"/>
            <a:ext cx="640080" cy="256095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166360" y="1661159"/>
            <a:ext cx="1645920" cy="658368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40" b="1" i="0" dirty="0">
                <a:solidFill>
                  <a:srgbClr val="0C2340"/>
                </a:solidFill>
                <a:latin typeface="+mj-lt"/>
              </a:rPr>
              <a:t>Analyzer
signals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2944368"/>
            <a:ext cx="1645920" cy="658368"/>
          </a:xfrm>
          <a:prstGeom prst="roundRect">
            <a:avLst/>
          </a:prstGeom>
          <a:solidFill>
            <a:srgbClr val="F2F0FC"/>
          </a:solidFill>
          <a:ln w="12700">
            <a:solidFill>
              <a:srgbClr val="685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40" b="1" i="0" dirty="0">
                <a:solidFill>
                  <a:srgbClr val="0C2340"/>
                </a:solidFill>
                <a:latin typeface="+mj-lt"/>
              </a:rPr>
              <a:t>Session
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4094684"/>
            <a:ext cx="1645920" cy="658368"/>
          </a:xfrm>
          <a:prstGeom prst="roundRect">
            <a:avLst/>
          </a:prstGeom>
          <a:solidFill>
            <a:srgbClr val="FEF6E8"/>
          </a:solidFill>
          <a:ln w="12700">
            <a:solidFill>
              <a:srgbClr val="EC9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40" b="1" i="0" dirty="0">
                <a:solidFill>
                  <a:srgbClr val="0C2340"/>
                </a:solidFill>
                <a:latin typeface="+mj-lt"/>
              </a:rPr>
              <a:t>Task + run
results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812280" y="3162795"/>
            <a:ext cx="640080" cy="219264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52360" y="2944368"/>
            <a:ext cx="1664208" cy="658368"/>
          </a:xfrm>
          <a:prstGeom prst="roundRect">
            <a:avLst/>
          </a:prstGeom>
          <a:solidFill>
            <a:srgbClr val="E8F8FA"/>
          </a:solidFill>
          <a:ln w="12700"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40" b="1" i="0" dirty="0">
                <a:solidFill>
                  <a:srgbClr val="0C2340"/>
                </a:solidFill>
                <a:latin typeface="+mj-lt"/>
              </a:rPr>
              <a:t>Policy selector</a:t>
            </a:r>
            <a:endParaRPr lang="en-US" sz="1040" b="1" dirty="0">
              <a:solidFill>
                <a:srgbClr val="0C2340"/>
              </a:solidFill>
              <a:latin typeface="+mj-lt"/>
            </a:endParaRPr>
          </a:p>
          <a:p>
            <a:pPr algn="ctr"/>
            <a:r>
              <a:rPr sz="1040" b="1" i="0" dirty="0">
                <a:solidFill>
                  <a:srgbClr val="0C2340"/>
                </a:solidFill>
                <a:latin typeface="+mj-lt"/>
              </a:rPr>
              <a:t>ML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116568" y="3065297"/>
            <a:ext cx="640080" cy="272263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826191" y="2903679"/>
            <a:ext cx="1645920" cy="658368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19" b="1" i="0" dirty="0">
                <a:solidFill>
                  <a:srgbClr val="0C2340"/>
                </a:solidFill>
                <a:latin typeface="+mj-lt"/>
              </a:rPr>
              <a:t>Feedback
Template /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6191" y="3795004"/>
            <a:ext cx="1645920" cy="65836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019" b="1" i="0" dirty="0" err="1">
                <a:solidFill>
                  <a:srgbClr val="0C2340"/>
                </a:solidFill>
                <a:latin typeface="+mj-lt"/>
              </a:rPr>
              <a:t>interaction_logs</a:t>
            </a:r>
            <a:r>
              <a:rPr sz="1019" b="1" i="0" dirty="0">
                <a:solidFill>
                  <a:srgbClr val="0C2340"/>
                </a:solidFill>
                <a:latin typeface="+mj-lt"/>
              </a:rPr>
              <a:t>
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6691" y="6419088"/>
            <a:ext cx="199029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7</a:t>
            </a:r>
          </a:p>
        </p:txBody>
      </p:sp>
      <p:sp>
        <p:nvSpPr>
          <p:cNvPr id="21" name="Right Arrow 7">
            <a:extLst>
              <a:ext uri="{FF2B5EF4-FFF2-40B4-BE49-F238E27FC236}">
                <a16:creationId xmlns:a16="http://schemas.microsoft.com/office/drawing/2014/main" id="{36F1ECD6-123C-73F2-BCF1-47071D9F72EF}"/>
              </a:ext>
            </a:extLst>
          </p:cNvPr>
          <p:cNvSpPr/>
          <p:nvPr/>
        </p:nvSpPr>
        <p:spPr>
          <a:xfrm rot="18804101">
            <a:off x="4403506" y="2590675"/>
            <a:ext cx="772841" cy="229820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2" name="Right Arrow 7">
            <a:extLst>
              <a:ext uri="{FF2B5EF4-FFF2-40B4-BE49-F238E27FC236}">
                <a16:creationId xmlns:a16="http://schemas.microsoft.com/office/drawing/2014/main" id="{5C3261B4-4385-F557-3499-7B5583B1F4DB}"/>
              </a:ext>
            </a:extLst>
          </p:cNvPr>
          <p:cNvSpPr/>
          <p:nvPr/>
        </p:nvSpPr>
        <p:spPr>
          <a:xfrm rot="2695647">
            <a:off x="4371849" y="3754823"/>
            <a:ext cx="772841" cy="229820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4" name="Right Arrow 13">
            <a:extLst>
              <a:ext uri="{FF2B5EF4-FFF2-40B4-BE49-F238E27FC236}">
                <a16:creationId xmlns:a16="http://schemas.microsoft.com/office/drawing/2014/main" id="{B1A496B2-74F4-0533-A351-189F2FCC11B8}"/>
              </a:ext>
            </a:extLst>
          </p:cNvPr>
          <p:cNvSpPr/>
          <p:nvPr/>
        </p:nvSpPr>
        <p:spPr>
          <a:xfrm rot="2459169">
            <a:off x="8987133" y="3726901"/>
            <a:ext cx="923333" cy="300164"/>
          </a:xfrm>
          <a:prstGeom prst="rightArrow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0"/>
            <a:ext cx="10515600" cy="1325563"/>
          </a:xfrm>
        </p:spPr>
        <p:txBody>
          <a:bodyPr/>
          <a:lstStyle/>
          <a:p>
            <a:pPr algn="l"/>
            <a:r>
              <a:rPr lang="en-US" sz="2400" b="1" i="0" dirty="0">
                <a:solidFill>
                  <a:srgbClr val="0C2340"/>
                </a:solidFill>
              </a:rPr>
              <a:t>5</a:t>
            </a:r>
            <a:r>
              <a:rPr sz="2400" b="1" i="0" dirty="0">
                <a:solidFill>
                  <a:srgbClr val="0C2340"/>
                </a:solidFill>
              </a:rPr>
              <a:t>. Empirical Results / </a:t>
            </a:r>
            <a:r>
              <a:rPr sz="2400" b="1" i="0" dirty="0" err="1">
                <a:solidFill>
                  <a:srgbClr val="0C2340"/>
                </a:solidFill>
              </a:rPr>
              <a:t>Результаты</a:t>
            </a:r>
            <a:r>
              <a:rPr sz="2400" b="1" i="0" dirty="0">
                <a:solidFill>
                  <a:srgbClr val="0C2340"/>
                </a:solidFill>
              </a:rPr>
              <a:t> ML-</a:t>
            </a:r>
            <a:r>
              <a:rPr sz="2400" b="1" i="0" dirty="0" err="1">
                <a:solidFill>
                  <a:srgbClr val="0C2340"/>
                </a:solidFill>
              </a:rPr>
              <a:t>эксперимента</a:t>
            </a:r>
            <a:endParaRPr sz="2400" b="1" i="0" dirty="0">
              <a:solidFill>
                <a:srgbClr val="0C234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234440"/>
            <a:ext cx="17830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33461" y="1307592"/>
            <a:ext cx="1415772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 dirty="0">
                <a:solidFill>
                  <a:srgbClr val="C0392B"/>
                </a:solidFill>
                <a:latin typeface="+mj-lt"/>
              </a:rPr>
              <a:t>0.085</a:t>
            </a:r>
          </a:p>
          <a:p>
            <a:pPr algn="ctr">
              <a:spcBef>
                <a:spcPts val="400"/>
              </a:spcBef>
            </a:pPr>
            <a:r>
              <a:rPr sz="880" b="0" i="0" dirty="0">
                <a:solidFill>
                  <a:srgbClr val="5E6C84"/>
                </a:solidFill>
                <a:latin typeface="+mj-lt"/>
              </a:rPr>
              <a:t>majority baseline macro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15768" y="1234440"/>
            <a:ext cx="17830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51332" y="1307592"/>
            <a:ext cx="1511952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0099A6"/>
                </a:solidFill>
                <a:latin typeface="+mj-lt"/>
              </a:rPr>
              <a:t>0.426</a:t>
            </a:r>
          </a:p>
          <a:p>
            <a:pPr algn="ctr">
              <a:spcBef>
                <a:spcPts val="400"/>
              </a:spcBef>
            </a:pPr>
            <a:r>
              <a:rPr sz="880" b="0" i="0">
                <a:solidFill>
                  <a:srgbClr val="5E6C84"/>
                </a:solidFill>
                <a:latin typeface="+mj-lt"/>
              </a:rPr>
              <a:t>source-code model macro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234440"/>
            <a:ext cx="17830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54962" y="1307592"/>
            <a:ext cx="1436611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229954"/>
                </a:solidFill>
                <a:latin typeface="+mj-lt"/>
              </a:rPr>
              <a:t>0.814</a:t>
            </a:r>
          </a:p>
          <a:p>
            <a:pPr algn="ctr">
              <a:spcBef>
                <a:spcPts val="400"/>
              </a:spcBef>
            </a:pPr>
            <a:r>
              <a:rPr sz="880" b="0" i="0">
                <a:solidFill>
                  <a:srgbClr val="5E6C84"/>
                </a:solidFill>
                <a:latin typeface="+mj-lt"/>
              </a:rPr>
              <a:t>code + run model macro F1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47688" y="1234440"/>
            <a:ext cx="178308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76226" y="1307592"/>
            <a:ext cx="1326004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6859B4"/>
                </a:solidFill>
                <a:latin typeface="+mj-lt"/>
              </a:rPr>
              <a:t>872</a:t>
            </a:r>
          </a:p>
          <a:p>
            <a:pPr algn="ctr">
              <a:spcBef>
                <a:spcPts val="400"/>
              </a:spcBef>
            </a:pPr>
            <a:r>
              <a:rPr sz="880" b="0" i="0">
                <a:solidFill>
                  <a:srgbClr val="5E6C84"/>
                </a:solidFill>
                <a:latin typeface="+mj-lt"/>
              </a:rPr>
              <a:t>held-out problem setting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13648" y="1234440"/>
            <a:ext cx="2176272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96489" y="1307592"/>
            <a:ext cx="1210588" cy="602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 i="0">
                <a:solidFill>
                  <a:srgbClr val="EC9D2D"/>
                </a:solidFill>
                <a:latin typeface="+mj-lt"/>
              </a:rPr>
              <a:t>178,414</a:t>
            </a:r>
          </a:p>
          <a:p>
            <a:pPr algn="ctr">
              <a:spcBef>
                <a:spcPts val="400"/>
              </a:spcBef>
            </a:pPr>
            <a:r>
              <a:rPr sz="880" b="0" i="0">
                <a:solidFill>
                  <a:srgbClr val="5E6C84"/>
                </a:solidFill>
                <a:latin typeface="+mj-lt"/>
              </a:rPr>
              <a:t>submissions evaluated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423160"/>
            <a:ext cx="5897880" cy="3401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pic>
        <p:nvPicPr>
          <p:cNvPr id="16" name="Picture 15" descr="report_fig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598722"/>
            <a:ext cx="5678424" cy="3050442"/>
          </a:xfrm>
          <a:prstGeom prst="rect">
            <a:avLst/>
          </a:prstGeom>
          <a:ln w="5080">
            <a:solidFill>
              <a:srgbClr val="D6DDE6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7150608" y="2487168"/>
            <a:ext cx="1348959" cy="335476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l"/>
            <a:r>
              <a:rPr sz="1700" b="1" i="0">
                <a:solidFill>
                  <a:srgbClr val="0C2340"/>
                </a:solidFill>
                <a:latin typeface="+mj-lt"/>
              </a:rP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907792"/>
            <a:ext cx="4160520" cy="140416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marL="285750" indent="-285750" algn="l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60" b="0" i="0" dirty="0">
                <a:solidFill>
                  <a:srgbClr val="212B36"/>
                </a:solidFill>
                <a:latin typeface="+mj-lt"/>
              </a:rPr>
              <a:t>Source code contains useful early signals for personalized mentoring.</a:t>
            </a:r>
          </a:p>
          <a:p>
            <a:pPr marL="285750" indent="-285750" algn="l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60" b="0" i="0" dirty="0">
                <a:solidFill>
                  <a:srgbClr val="212B36"/>
                </a:solidFill>
                <a:latin typeface="+mj-lt"/>
              </a:rPr>
              <a:t>Execution results substantially improve reliable state prediction.</a:t>
            </a:r>
            <a:endParaRPr lang="en-US" sz="1260" dirty="0">
              <a:solidFill>
                <a:srgbClr val="212B36"/>
              </a:solidFill>
              <a:latin typeface="+mj-lt"/>
            </a:endParaRPr>
          </a:p>
          <a:p>
            <a:pPr marL="285750" indent="-285750" algn="l">
              <a:lnSpc>
                <a:spcPct val="105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60" b="0" i="0" dirty="0">
                <a:solidFill>
                  <a:srgbClr val="212B36"/>
                </a:solidFill>
                <a:latin typeface="+mj-lt"/>
              </a:rPr>
              <a:t>Problem-level holdout makes the evaluation stricter than random splitting.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6691" y="6419088"/>
            <a:ext cx="199029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10481"/>
            <a:ext cx="10515600" cy="1325563"/>
          </a:xfrm>
        </p:spPr>
        <p:txBody>
          <a:bodyPr/>
          <a:lstStyle/>
          <a:p>
            <a:pPr algn="l"/>
            <a:r>
              <a:rPr lang="en-US" sz="2400" b="1" dirty="0">
                <a:solidFill>
                  <a:srgbClr val="0C2340"/>
                </a:solidFill>
              </a:rPr>
              <a:t>6</a:t>
            </a:r>
            <a:r>
              <a:rPr sz="2400" b="1" i="0" dirty="0">
                <a:solidFill>
                  <a:srgbClr val="0C2340"/>
                </a:solidFill>
              </a:rPr>
              <a:t>. </a:t>
            </a:r>
            <a:r>
              <a:rPr lang="en-US" sz="2400" b="1" dirty="0">
                <a:solidFill>
                  <a:srgbClr val="0C2340"/>
                </a:solidFill>
              </a:rPr>
              <a:t>Plan</a:t>
            </a:r>
            <a:r>
              <a:rPr sz="2400" b="1" i="0" dirty="0">
                <a:solidFill>
                  <a:srgbClr val="0C2340"/>
                </a:solidFill>
              </a:rPr>
              <a:t> Implementation and Publication / </a:t>
            </a:r>
            <a:r>
              <a:rPr sz="2400" b="1" i="0" dirty="0" err="1">
                <a:solidFill>
                  <a:srgbClr val="0C2340"/>
                </a:solidFill>
              </a:rPr>
              <a:t>Результаты</a:t>
            </a:r>
            <a:r>
              <a:rPr sz="2400" b="1" i="0" dirty="0">
                <a:solidFill>
                  <a:srgbClr val="0C2340"/>
                </a:solidFill>
              </a:rPr>
              <a:t> ИПРМ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1080" y="2738532"/>
            <a:ext cx="10104120" cy="32004"/>
          </a:xfrm>
          <a:prstGeom prst="rect">
            <a:avLst/>
          </a:prstGeom>
          <a:solidFill>
            <a:srgbClr val="D6DDE6"/>
          </a:solidFill>
          <a:ln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66800" y="2610516"/>
            <a:ext cx="292608" cy="292608"/>
          </a:xfrm>
          <a:prstGeom prst="ellipse">
            <a:avLst/>
          </a:prstGeom>
          <a:solidFill>
            <a:srgbClr val="229954"/>
          </a:solidFill>
          <a:ln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2748" y="2311812"/>
            <a:ext cx="981294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5E6C84"/>
                </a:solidFill>
                <a:latin typeface="+mj-lt"/>
              </a:rPr>
              <a:t>Jan-Mar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872" y="2994564"/>
            <a:ext cx="1527047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212B36"/>
                </a:solidFill>
                <a:latin typeface="+mj-lt"/>
              </a:rPr>
              <a:t>Literature review and theoretical basis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66" y="3542590"/>
            <a:ext cx="807658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0" i="0">
                <a:solidFill>
                  <a:srgbClr val="5E6C84"/>
                </a:solidFill>
                <a:latin typeface="+mj-lt"/>
              </a:rPr>
              <a:t>completed</a:t>
            </a:r>
          </a:p>
        </p:txBody>
      </p:sp>
      <p:sp>
        <p:nvSpPr>
          <p:cNvPr id="10" name="Oval 9"/>
          <p:cNvSpPr/>
          <p:nvPr/>
        </p:nvSpPr>
        <p:spPr>
          <a:xfrm>
            <a:off x="2758440" y="2610516"/>
            <a:ext cx="292608" cy="292608"/>
          </a:xfrm>
          <a:prstGeom prst="ellipse">
            <a:avLst/>
          </a:prstGeom>
          <a:solidFill>
            <a:srgbClr val="229954"/>
          </a:solidFill>
          <a:ln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04479" y="2313990"/>
            <a:ext cx="1000531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5E6C84"/>
                </a:solidFill>
                <a:latin typeface="+mj-lt"/>
              </a:rPr>
              <a:t>Mar-Apr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1512" y="2994564"/>
            <a:ext cx="1527047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1" i="0" dirty="0" err="1">
                <a:solidFill>
                  <a:srgbClr val="212B36"/>
                </a:solidFill>
                <a:latin typeface="+mj-lt"/>
              </a:rPr>
              <a:t>SocratesAI</a:t>
            </a:r>
            <a:r>
              <a:rPr sz="1200" b="1" i="0" dirty="0">
                <a:solidFill>
                  <a:srgbClr val="212B36"/>
                </a:solidFill>
                <a:latin typeface="+mj-lt"/>
              </a:rPr>
              <a:t> concept and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1206" y="3542590"/>
            <a:ext cx="807658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0" i="0" dirty="0">
                <a:solidFill>
                  <a:srgbClr val="5E6C84"/>
                </a:solidFill>
                <a:latin typeface="+mj-lt"/>
              </a:rPr>
              <a:t>completed</a:t>
            </a:r>
          </a:p>
        </p:txBody>
      </p:sp>
      <p:sp>
        <p:nvSpPr>
          <p:cNvPr id="14" name="Oval 13"/>
          <p:cNvSpPr/>
          <p:nvPr/>
        </p:nvSpPr>
        <p:spPr>
          <a:xfrm>
            <a:off x="4495800" y="2610516"/>
            <a:ext cx="292608" cy="292608"/>
          </a:xfrm>
          <a:prstGeom prst="ellipse">
            <a:avLst/>
          </a:prstGeom>
          <a:solidFill>
            <a:srgbClr val="EC9D2D"/>
          </a:solidFill>
          <a:ln>
            <a:solidFill>
              <a:srgbClr val="EC9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18204" y="2317908"/>
            <a:ext cx="739241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1" i="0">
                <a:solidFill>
                  <a:srgbClr val="5E6C84"/>
                </a:solidFill>
                <a:latin typeface="+mj-lt"/>
              </a:rPr>
              <a:t>Mar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8872" y="2994564"/>
            <a:ext cx="1527047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212B36"/>
                </a:solidFill>
                <a:latin typeface="+mj-lt"/>
              </a:rPr>
              <a:t>SIST 2026 manuscript reviewed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1330" y="3542590"/>
            <a:ext cx="2306144" cy="2585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0" i="0" dirty="0">
                <a:solidFill>
                  <a:srgbClr val="5E6C84"/>
                </a:solidFill>
                <a:latin typeface="+mj-lt"/>
              </a:rPr>
              <a:t>not accepted; feedback </a:t>
            </a:r>
            <a:r>
              <a:rPr lang="en-US" sz="1200" b="0" i="0" dirty="0">
                <a:solidFill>
                  <a:srgbClr val="5E6C84"/>
                </a:solidFill>
                <a:latin typeface="+mj-lt"/>
              </a:rPr>
              <a:t>considered</a:t>
            </a:r>
            <a:endParaRPr sz="1200" b="0" i="0" dirty="0">
              <a:solidFill>
                <a:srgbClr val="5E6C84"/>
              </a:solidFill>
              <a:latin typeface="+mj-lt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233160" y="2610516"/>
            <a:ext cx="292608" cy="292608"/>
          </a:xfrm>
          <a:prstGeom prst="ellipse">
            <a:avLst/>
          </a:prstGeom>
          <a:solidFill>
            <a:srgbClr val="229954"/>
          </a:solidFill>
          <a:ln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02442" y="2302815"/>
            <a:ext cx="954044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5E6C84"/>
                </a:solidFill>
                <a:latin typeface="+mj-lt"/>
              </a:rPr>
              <a:t>Apr-Jun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6232" y="2994564"/>
            <a:ext cx="1499616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212B36"/>
                </a:solidFill>
                <a:latin typeface="+mj-lt"/>
              </a:rPr>
              <a:t>Technical redirection to ML decision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0499" y="3542590"/>
            <a:ext cx="807658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0" i="0" dirty="0">
                <a:solidFill>
                  <a:srgbClr val="5E6C84"/>
                </a:solidFill>
                <a:latin typeface="+mj-lt"/>
              </a:rPr>
              <a:t>completed</a:t>
            </a:r>
          </a:p>
        </p:txBody>
      </p:sp>
      <p:sp>
        <p:nvSpPr>
          <p:cNvPr id="22" name="Oval 21"/>
          <p:cNvSpPr/>
          <p:nvPr/>
        </p:nvSpPr>
        <p:spPr>
          <a:xfrm>
            <a:off x="8061960" y="2610516"/>
            <a:ext cx="292608" cy="292608"/>
          </a:xfrm>
          <a:prstGeom prst="ellipse">
            <a:avLst/>
          </a:prstGeom>
          <a:solidFill>
            <a:srgbClr val="0099A6"/>
          </a:solidFill>
          <a:ln>
            <a:solidFill>
              <a:srgbClr val="009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1886" y="2302467"/>
            <a:ext cx="692755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5E6C84"/>
                </a:solidFill>
                <a:latin typeface="+mj-lt"/>
              </a:rPr>
              <a:t>Jun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6659" y="2991695"/>
            <a:ext cx="1283210" cy="62786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212B36"/>
                </a:solidFill>
                <a:latin typeface="+mj-lt"/>
              </a:rPr>
              <a:t>IEEE student conference manuscript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5963" y="3555396"/>
            <a:ext cx="777200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0" i="0" dirty="0">
                <a:solidFill>
                  <a:srgbClr val="5E6C84"/>
                </a:solidFill>
                <a:latin typeface="+mj-lt"/>
              </a:rPr>
              <a:t>submitted</a:t>
            </a:r>
          </a:p>
        </p:txBody>
      </p:sp>
      <p:sp>
        <p:nvSpPr>
          <p:cNvPr id="26" name="Oval 25"/>
          <p:cNvSpPr/>
          <p:nvPr/>
        </p:nvSpPr>
        <p:spPr>
          <a:xfrm>
            <a:off x="9982200" y="2610516"/>
            <a:ext cx="292608" cy="292608"/>
          </a:xfrm>
          <a:prstGeom prst="ellipse">
            <a:avLst/>
          </a:prstGeom>
          <a:solidFill>
            <a:srgbClr val="229954"/>
          </a:solidFill>
          <a:ln>
            <a:solidFill>
              <a:srgbClr val="229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27341" y="2302467"/>
            <a:ext cx="1002327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5E6C84"/>
                </a:solidFill>
                <a:latin typeface="+mj-lt"/>
              </a:rPr>
              <a:t>May-Jun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5272" y="2994564"/>
            <a:ext cx="1453896" cy="44319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1" i="0" dirty="0">
                <a:solidFill>
                  <a:srgbClr val="212B36"/>
                </a:solidFill>
                <a:latin typeface="+mj-lt"/>
              </a:rPr>
              <a:t>MVP and initial experiments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9041" y="3538780"/>
            <a:ext cx="1698927" cy="258532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ctr"/>
            <a:r>
              <a:rPr sz="1200" b="0" i="0" dirty="0">
                <a:solidFill>
                  <a:srgbClr val="5E6C84"/>
                </a:solidFill>
                <a:latin typeface="+mj-lt"/>
              </a:rPr>
              <a:t>completed; pilot planned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999866"/>
            <a:ext cx="4709160" cy="1063286"/>
          </a:xfrm>
          <a:prstGeom prst="roundRect">
            <a:avLst/>
          </a:prstGeom>
          <a:solidFill>
            <a:srgbClr val="E8F8FA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14983" y="1091306"/>
            <a:ext cx="4288536" cy="7453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 i="0" dirty="0">
                <a:solidFill>
                  <a:srgbClr val="0C2340"/>
                </a:solidFill>
                <a:latin typeface="+mj-lt"/>
              </a:rPr>
              <a:t>Publication output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990" b="0" i="0" dirty="0">
                <a:solidFill>
                  <a:srgbClr val="212B36"/>
                </a:solidFill>
                <a:latin typeface="+mj-lt"/>
              </a:rPr>
              <a:t>"A Machine Learning Model for Real-Time Personalized Feedback in Introductory Programming" - submitted to the 2026 IEEE 3rd International Student Conference on Digital Generation.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999866"/>
            <a:ext cx="4709160" cy="1060800"/>
          </a:xfrm>
          <a:prstGeom prst="roundRect">
            <a:avLst/>
          </a:prstGeom>
          <a:solidFill>
            <a:srgbClr val="ECF8F0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44184" y="1091306"/>
            <a:ext cx="4260759" cy="59298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300" b="1" i="0" dirty="0">
                <a:solidFill>
                  <a:srgbClr val="0C2340"/>
                </a:solidFill>
                <a:latin typeface="+mj-lt"/>
              </a:rPr>
              <a:t>Research internship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990" dirty="0">
                <a:solidFill>
                  <a:srgbClr val="212B36"/>
                </a:solidFill>
              </a:rPr>
              <a:t>Research internship</a:t>
            </a:r>
            <a:r>
              <a:rPr lang="en-US" sz="990" dirty="0">
                <a:solidFill>
                  <a:srgbClr val="212B36"/>
                </a:solidFill>
                <a:latin typeface="+mj-lt"/>
              </a:rPr>
              <a:t> has been postponed and rescheduled to</a:t>
            </a:r>
            <a:r>
              <a:rPr lang="en-US" sz="990" b="0" i="0" dirty="0">
                <a:solidFill>
                  <a:srgbClr val="212B36"/>
                </a:solidFill>
                <a:latin typeface="+mj-lt"/>
              </a:rPr>
              <a:t> 2027 in AITU</a:t>
            </a:r>
            <a:r>
              <a:rPr lang="kk-KZ" sz="990" b="0" i="0" dirty="0">
                <a:solidFill>
                  <a:srgbClr val="212B36"/>
                </a:solidFill>
                <a:latin typeface="+mj-lt"/>
              </a:rPr>
              <a:t> </a:t>
            </a:r>
            <a:r>
              <a:rPr lang="en-US" sz="990" b="0" i="0" dirty="0">
                <a:solidFill>
                  <a:srgbClr val="212B36"/>
                </a:solidFill>
                <a:latin typeface="+mj-lt"/>
              </a:rPr>
              <a:t>Research Center (</a:t>
            </a:r>
            <a:r>
              <a:rPr lang="ru-RU" sz="990" b="0" i="0" dirty="0">
                <a:solidFill>
                  <a:srgbClr val="212B36"/>
                </a:solidFill>
                <a:latin typeface="+mj-lt"/>
              </a:rPr>
              <a:t>НИЦ </a:t>
            </a:r>
            <a:r>
              <a:rPr lang="en-US" sz="990" b="0" i="0" dirty="0">
                <a:solidFill>
                  <a:srgbClr val="212B36"/>
                </a:solidFill>
                <a:latin typeface="+mj-lt"/>
              </a:rPr>
              <a:t>AITU)</a:t>
            </a:r>
            <a:endParaRPr sz="990" b="0" i="0" dirty="0">
              <a:solidFill>
                <a:srgbClr val="212B36"/>
              </a:solidFill>
              <a:latin typeface="+mj-l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225395" y="6419088"/>
            <a:ext cx="250325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12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CB83C3F-6E3E-E424-6B48-C3A14CC52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715"/>
          <a:stretch>
            <a:fillRect/>
          </a:stretch>
        </p:blipFill>
        <p:spPr>
          <a:xfrm>
            <a:off x="2310016" y="3840718"/>
            <a:ext cx="7175727" cy="2959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36893"/>
            <a:ext cx="10515600" cy="1325563"/>
          </a:xfrm>
        </p:spPr>
        <p:txBody>
          <a:bodyPr/>
          <a:lstStyle/>
          <a:p>
            <a:pPr algn="l"/>
            <a:r>
              <a:rPr sz="2400" b="1" i="0" dirty="0">
                <a:solidFill>
                  <a:srgbClr val="0C2340"/>
                </a:solidFill>
              </a:rPr>
              <a:t>Conclusion / </a:t>
            </a:r>
            <a:r>
              <a:rPr sz="2400" b="1" i="0" dirty="0" err="1">
                <a:solidFill>
                  <a:srgbClr val="0C2340"/>
                </a:solidFill>
              </a:rPr>
              <a:t>Заключение</a:t>
            </a:r>
            <a:endParaRPr sz="2400" b="1" i="0" dirty="0">
              <a:solidFill>
                <a:srgbClr val="0C234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50951" y="1307592"/>
            <a:ext cx="3127248" cy="2834640"/>
          </a:xfrm>
          <a:prstGeom prst="roundRect">
            <a:avLst/>
          </a:prstGeom>
          <a:solidFill>
            <a:srgbClr val="E8F8FA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4219" y="1949306"/>
            <a:ext cx="2640711" cy="159633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 i="0" dirty="0">
                <a:solidFill>
                  <a:srgbClr val="0C2340"/>
                </a:solidFill>
                <a:latin typeface="+mj-lt"/>
              </a:rPr>
              <a:t>What has been achieved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400" b="0" i="0" dirty="0">
                <a:solidFill>
                  <a:srgbClr val="212B36"/>
                </a:solidFill>
                <a:latin typeface="+mj-lt"/>
              </a:rPr>
              <a:t>The research direction was corrected toward a measurable technical layer. The MVP now connects code analysis, policy selection, bounded feedback, and interaction logging.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127248" cy="2834640"/>
          </a:xfrm>
          <a:prstGeom prst="roundRect">
            <a:avLst/>
          </a:prstGeom>
          <a:solidFill>
            <a:srgbClr val="ECF8F0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7646" y="1949306"/>
            <a:ext cx="2604516" cy="159633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 i="0" dirty="0">
                <a:solidFill>
                  <a:srgbClr val="0C2340"/>
                </a:solidFill>
                <a:latin typeface="+mj-lt"/>
              </a:rPr>
              <a:t>Main scientific result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400" b="0" i="0" dirty="0">
                <a:solidFill>
                  <a:srgbClr val="212B36"/>
                </a:solidFill>
                <a:latin typeface="+mj-lt"/>
              </a:rPr>
              <a:t>Feedback-state prediction is feasible on a problem-level holdout: source code already improves strongly over baseline, and code-plus-run signals reach the best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2743200" cy="2834640"/>
          </a:xfrm>
          <a:prstGeom prst="roundRect">
            <a:avLst/>
          </a:prstGeom>
          <a:solidFill>
            <a:srgbClr val="FEF6E8"/>
          </a:solidFill>
          <a:ln w="9525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17636" y="1949306"/>
            <a:ext cx="2167128" cy="181177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400" b="1" i="0" dirty="0">
                <a:solidFill>
                  <a:srgbClr val="0C2340"/>
                </a:solidFill>
                <a:latin typeface="+mj-lt"/>
              </a:rPr>
              <a:t>Next stage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sz="1400" b="0" i="0" dirty="0">
                <a:solidFill>
                  <a:srgbClr val="212B36"/>
                </a:solidFill>
                <a:latin typeface="+mj-lt"/>
              </a:rPr>
              <a:t>Collect target-domain </a:t>
            </a:r>
            <a:r>
              <a:rPr sz="1400" b="0" i="0" dirty="0" err="1">
                <a:solidFill>
                  <a:srgbClr val="212B36"/>
                </a:solidFill>
                <a:latin typeface="+mj-lt"/>
              </a:rPr>
              <a:t>SocratesAI</a:t>
            </a:r>
            <a:r>
              <a:rPr sz="1400" b="0" i="0" dirty="0">
                <a:solidFill>
                  <a:srgbClr val="212B36"/>
                </a:solidFill>
                <a:latin typeface="+mj-lt"/>
              </a:rPr>
              <a:t> logs, run CS1 classroom</a:t>
            </a:r>
            <a:r>
              <a:rPr lang="en-US" sz="1400" b="0" i="0" dirty="0">
                <a:solidFill>
                  <a:srgbClr val="212B36"/>
                </a:solidFill>
                <a:latin typeface="+mj-lt"/>
              </a:rPr>
              <a:t> </a:t>
            </a:r>
            <a:r>
              <a:rPr lang="en-US" sz="1400" b="0" i="0" dirty="0" err="1">
                <a:solidFill>
                  <a:srgbClr val="212B36"/>
                </a:solidFill>
                <a:latin typeface="+mj-lt"/>
              </a:rPr>
              <a:t>experiement</a:t>
            </a:r>
            <a:r>
              <a:rPr sz="1400" b="0" i="0" dirty="0">
                <a:solidFill>
                  <a:srgbClr val="212B36"/>
                </a:solidFill>
                <a:latin typeface="+mj-lt"/>
              </a:rPr>
              <a:t>, refine the taxonomy, and complete the implementation/results chapters.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1344" y="4983480"/>
            <a:ext cx="9349647" cy="56692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600" b="1" i="0" dirty="0">
                <a:solidFill>
                  <a:srgbClr val="0C2340"/>
                </a:solidFill>
                <a:latin typeface="+mj-lt"/>
              </a:rPr>
              <a:t>Dissertation defense deadline: 2027. The current work provides the technical foundation; the planned classroom study will test learning outcomes.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5395" y="6419088"/>
            <a:ext cx="250325" cy="193899"/>
          </a:xfrm>
          <a:prstGeom prst="rect">
            <a:avLst/>
          </a:prstGeom>
          <a:noFill/>
        </p:spPr>
        <p:txBody>
          <a:bodyPr wrap="none" lIns="73152" tIns="36576" rIns="73152" bIns="36576" anchor="t">
            <a:spAutoFit/>
          </a:bodyPr>
          <a:lstStyle/>
          <a:p>
            <a:pPr algn="r"/>
            <a:r>
              <a:rPr sz="780" b="0" i="0">
                <a:solidFill>
                  <a:srgbClr val="5E6C84"/>
                </a:solidFill>
                <a:latin typeface="+mj-lt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682</Words>
  <Application>Microsoft Office PowerPoint</Application>
  <PresentationFormat>Широкоэкранный</PresentationFormat>
  <Paragraphs>111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Research and Implementation of Virtual Mentor Models in Programming</vt:lpstr>
      <vt:lpstr>1. Relevance of the Research / Актуальность исследования</vt:lpstr>
      <vt:lpstr>2. Methods and Initial Data / Методы и исходные данные</vt:lpstr>
      <vt:lpstr>3. ML Decision Layer / Слой принятия решения</vt:lpstr>
      <vt:lpstr>4. SocratesAI MVP Architecture / Архитектура прототипа</vt:lpstr>
      <vt:lpstr>5. Empirical Results / Результаты ML-эксперимента</vt:lpstr>
      <vt:lpstr>6. Plan Implementation and Publication / Результаты ИПРМ</vt:lpstr>
      <vt:lpstr>Conclusion / 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докторанта</dc:title>
  <dc:creator>Zhansaya Makhambetova</dc:creator>
  <cp:lastModifiedBy>Alimzhan Koshikov</cp:lastModifiedBy>
  <cp:revision>39</cp:revision>
  <dcterms:created xsi:type="dcterms:W3CDTF">2023-03-09T04:55:53Z</dcterms:created>
  <dcterms:modified xsi:type="dcterms:W3CDTF">2026-06-17T10:17:28Z</dcterms:modified>
</cp:coreProperties>
</file>